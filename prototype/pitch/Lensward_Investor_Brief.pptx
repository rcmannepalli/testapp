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idx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8D69"/>
              </a:solidFill>
              <a:ln w="9525" cap="flat">
                <a:solidFill>
                  <a:srgbClr val="0F2A2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4A44"/>
              </a:solidFill>
              <a:ln w="9525" cap="flat">
                <a:solidFill>
                  <a:srgbClr val="0F2A2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Respect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intelligence   ·   Change &amp; AI transformation   ·   B2B SaaS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no one measures: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people actually heard?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turns everyday work conversations into 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gives each person private coaching — without surveillance. When everything else is changing, it’s the signal that tells you whether your teams are holding together.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Working prototype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Suguna Mannepalli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0" y="155448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2788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0" y="3584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2440" y="5074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D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trending, team-level score — the highest-respect number, not the highest-sentiment one.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(working name)  ·  Confidential &amp; Proprietary  ·  Prepared for Launch Chapel Hill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company measures sentiment.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measure respect.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surveys ask how people feel. They miss what actually drives attrition and silence: whether people are listened to and treated with dignity. “Toxic but polite” sails straight through a sentiment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892040" cy="2743200"/>
          </a:xfrm>
          <a:prstGeom prst="roundRect">
            <a:avLst>
              <a:gd name="adj" fmla="val 3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sentiment sees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“Thanks for the input! We’ll take it from here.”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positive</a:t>
            </a:r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Cheerful words, high score.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926080"/>
            <a:ext cx="1124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7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56832" y="2926080"/>
            <a:ext cx="489204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76872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76872" y="379476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was dismissed and stopped contributing.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76872" y="48006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— invisible to the tools companies buy today.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BROKEN INCUMBENT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spend a fortune on surveys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answers honestly.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are expensive, annual, and — worst of all — people don’t tell the truth on them for fear of being identified and facing retaliation. Leadership pays a lot to learn very little.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2926080"/>
          </a:xfrm>
          <a:prstGeom prst="roundRect">
            <a:avLst>
              <a:gd name="adj" fmla="val 3438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090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trap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and annual — stale by the time results land.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retaliation kills candor — answers are cover-your-back, not truth.</a:t>
            </a:r>
            <a:endParaRPr lang="en-US" sz="140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and gameable — a mirror that shows leaders nothing real.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834640"/>
            <a:ext cx="5349240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3090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SugApp gives leadership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9672" y="36118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from real behavior, not a once-a-year form.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and k-anonymized — no one is exposed, so nothing is hidden out of fear.</a:t>
            </a:r>
            <a:endParaRPr lang="en-US" sz="140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org- and team-wide picture of how each team is growing through self-reflection.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MOMENT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most uncertain workplace in a generation.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is reorganizing every team at once. How people treat each other decides whether change lands — or your best people quietly leave.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breaks trust first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Reorgs and AI rollouts erode psychological safety long before it shows up in output or a quarterly survey.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8304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noise now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18304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upheaval, mood swings with the daily news. Respect &amp; listening is the durable signal that a team is intact.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silent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76488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 and regretted attrition surface months late. Respect is the early-warning light that comes on first.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was always there. The reader just arrived.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text now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and chat hold the real record of how colleagues treat each other — dense, continuous, and unmined.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8304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nuance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18304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acknowledgement, dismissal, or credit-sharing needs context, not keywords. That capability is new.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56448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6488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gate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76488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isn’t whoever reads the most — it’s whoever people trust to. That’s a design choice we make on line 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IT 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respect &amp; listening layer for the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workplace.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channel. SugApp reads the conversation with consent, and produces two things: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mirror for each person</a:t>
            </a:r>
            <a:endParaRPr lang="en-US" sz="1450" dirty="0"/>
          </a:p>
          <a:p>
            <a:pPr lvl="1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words, what’s landing well, and one concrete thing to try next.</a:t>
            </a:r>
            <a:endParaRPr lang="en-US" sz="145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anonymized Respect Index for the org</a:t>
            </a:r>
            <a:endParaRPr lang="en-US" sz="1450" dirty="0"/>
          </a:p>
          <a:p>
            <a:pPr lvl="1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time, never a name, never a quote.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 is powered by a proprietary, validated behavioral taxonomy — our core IP, held as a trade secret and not shown 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40880" y="1874520"/>
            <a:ext cx="4507992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this quarter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20072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pPr algn="r" indent="0" marL="0">
              <a:buNone/>
            </a:pPr>
            <a:r>
              <a:rPr lang="en-US" sz="1400" dirty="0">
                <a:solidFill>
                  <a:srgbClr val="5A716C"/>
                </a:solidFill>
              </a:rPr>
              <a:t> /100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29992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55480" y="30449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5480" y="3044952"/>
            <a:ext cx="1204448" cy="146304"/>
          </a:xfrm>
          <a:prstGeom prst="roundRect">
            <a:avLst>
              <a:gd name="adj" fmla="val 50000"/>
            </a:avLst>
          </a:prstGeom>
          <a:solidFill>
            <a:srgbClr val="2A9D6C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3456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w/ dignity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55480" y="35021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5" name="Shape 13"/>
          <p:cNvSpPr/>
          <p:nvPr/>
        </p:nvSpPr>
        <p:spPr>
          <a:xfrm>
            <a:off x="9555480" y="3502152"/>
            <a:ext cx="992856" cy="146304"/>
          </a:xfrm>
          <a:prstGeom prst="roundRect">
            <a:avLst>
              <a:gd name="adj" fmla="val 50000"/>
            </a:avLst>
          </a:prstGeom>
          <a:solidFill>
            <a:srgbClr val="2A9D6C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Dismissive moments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5480" y="39593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8" name="Shape 16"/>
          <p:cNvSpPr/>
          <p:nvPr/>
        </p:nvSpPr>
        <p:spPr>
          <a:xfrm>
            <a:off x="9555480" y="3959352"/>
            <a:ext cx="358079" cy="146304"/>
          </a:xfrm>
          <a:prstGeom prst="roundRect">
            <a:avLst>
              <a:gd name="adj" fmla="val 50000"/>
            </a:avLst>
          </a:prstGeom>
          <a:solidFill>
            <a:srgbClr val="BF842A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457200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 · 8 WEEKS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5265115"/>
            <a:ext cx="350901" cy="404165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12989" y="5218481"/>
            <a:ext cx="350901" cy="450799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2" name="Shape 20"/>
          <p:cNvSpPr/>
          <p:nvPr/>
        </p:nvSpPr>
        <p:spPr>
          <a:xfrm>
            <a:off x="8373618" y="5241798"/>
            <a:ext cx="350901" cy="427482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3" name="Shape 21"/>
          <p:cNvSpPr/>
          <p:nvPr/>
        </p:nvSpPr>
        <p:spPr>
          <a:xfrm>
            <a:off x="8834247" y="5171846"/>
            <a:ext cx="350901" cy="497434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4876" y="5132984"/>
            <a:ext cx="350901" cy="536296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5" name="Shape 23"/>
          <p:cNvSpPr/>
          <p:nvPr/>
        </p:nvSpPr>
        <p:spPr>
          <a:xfrm>
            <a:off x="9755505" y="5156302"/>
            <a:ext cx="350901" cy="512978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16134" y="5094122"/>
            <a:ext cx="350901" cy="575158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76763" y="5063033"/>
            <a:ext cx="350901" cy="606247"/>
          </a:xfrm>
          <a:prstGeom prst="rect">
            <a:avLst/>
          </a:prstGeom>
          <a:solidFill>
            <a:srgbClr val="1C8D6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HOW CULTURE ACTUALLY SHIFTS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changes when people see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themselves — not when they’re told.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doesn’t shift with yearly surveys, performance reviews, or 1:1s — those are watched, rated, and remembered. It shifts with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part every program skips. The private mirror creates a quiet feedback loop no policy can: each person sees, in their own words, how they’re landing — and adjusts one small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yourself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own words)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71800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99104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81984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Reflect,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30824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58128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1008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one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9848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217152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00032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watching but you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people actually use it — no fear, no scoring, no manager in the middle. One person changing one behavior, repeated across a team, is what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moves the needle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Respect Index turns that invisible shift into a trend leaders can finally see.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SELF-MANAGING TEAMS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that steady themselves through change — no surveillance.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uncertain times, teams need to self-correct fast. SugApp gives a team a shared, private signal of its own health — a mirror for the group, not a report up the chain.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mirror, not a manager’s dashboard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sees its own health first and owns the response — support, not scrutiny.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8304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during change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18304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dismissiveness and falling acknowledgement show up weeks before resignations 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76488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awareness lets a team reset its own norms mid-reorg — the fastest, cheapest intervention there is.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WHY WE WIN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product, not the disclaimer.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score text. The moat is being the tool a workforce will actually allow in — especially when they’re already anxious about AI watching them. We engineered that in from the first commit: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with a real opt-out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3364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scored without consent. Withdrawing deletes what was collected. Enforced in code, not policy.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74320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yourself first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19672" y="3364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always sees their own feedback before anyone else — a mirror, not a report to your manager.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7274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 sees aggregates only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5148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trends, k-anonymized; small teams suppressed. Never a name, never a quote, up the chain.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452628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47274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identity (SSO)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19672" y="5148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Sign-in-with-Slack ties consent to a verified identity — no impersonation, reliable opt-out.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MARKET &amp; BUYER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 to the people who now own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“managing through change.”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People / HR, People Analytics, and Transformation leaders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already spending on engagement, DEI, and change-management, and now under acute pressure to carry a workforce through AI transformation without losing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creating a new budget; we’re a sharper instrument for one that already exists — and one regulators and works councils increasingly require to be privacy-first.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2011680"/>
            <a:ext cx="4050792" cy="1828800"/>
          </a:xfrm>
          <a:prstGeom prst="roundRect">
            <a:avLst>
              <a:gd name="adj" fmla="val 5500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267712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818120" y="2880360"/>
            <a:ext cx="3410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team that opts in — a fast, low-friction pilot, not a company-wide rollout.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4023360"/>
            <a:ext cx="4050792" cy="1828800"/>
          </a:xfrm>
          <a:prstGeom prst="roundRect">
            <a:avLst>
              <a:gd name="adj" fmla="val 5500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4279392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18120" y="4892040"/>
            <a:ext cx="3410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wins become org rollout; the Respect Index becomes a tracked people-analytics KPI.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Per-seat SaaS — and every employee is a seat.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for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dashboard for a few managers — whole-company adoption, priced per seat. The cost to serve stays tiny because it scales with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volume, not headcount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Per-active-participant monthly subscription; annual contracts at the org tier.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54296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seat, margin-accretive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54296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adoption, not power-users; each new seat adds far more revenue than cost.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margin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scored volume; the taxonomy and trust posture are the durable moat.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$0.30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6112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opted-in employee / month to serve on Sonnet (~$0.10 on Haiku).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8264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54296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gross margin at an illustrative $4 / seat / month.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6448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0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Volume-based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messages, not seats — so it holds at 50 or 50,000 people.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LLM token costs at ~75% opt-in (250-person example ≈ $35–70/mo to serve). Message volume is the main driver; $4/seat is illustrative — replace with your numbers before presenting.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slideware idea — a working prototype.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 runs today, end-to-end and offline-validated: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3288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Slack connector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token, real channel ingestion.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56946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253288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9672" y="2514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 + Sign-in-with-Slack SSO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enforced, tamper-proof.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2102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844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coaching rewrite per moment.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9632" y="362102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5844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9672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mirror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private, name-attached view.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67258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360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team dashboards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Index, trends, k-anonymized.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467258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46360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Identity-keyed, penalty-free purge on opt-out.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design partners for a live pilot, and calibration of the Index against real retention / engagement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pain is real — and people told us so.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discovery conversations with leaders and individual contributors alike, two themes surfaced again and again: people don’t feel heard, and they’ve never had a structured way to reflect on their own behavior. The published research says the same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392424" cy="2468880"/>
          </a:xfrm>
          <a:prstGeom prst="roundRect">
            <a:avLst>
              <a:gd name="adj" fmla="val 4074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172968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more effective at their job when they feel heard.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9651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UKG Workforce Institute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8264" y="2880360"/>
            <a:ext cx="3392424" cy="2468880"/>
          </a:xfrm>
          <a:prstGeom prst="roundRect">
            <a:avLst>
              <a:gd name="adj" fmla="val 4074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3172968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72584" y="402336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are truly self-aware — though 95% think they 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2584" y="49651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Eurich, Harvard Business 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6448" y="2880360"/>
            <a:ext cx="3392424" cy="2468880"/>
          </a:xfrm>
          <a:prstGeom prst="roundRect">
            <a:avLst>
              <a:gd name="adj" fmla="val 4074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3172968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402336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do their best work when they feel their voice is heard.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0768" y="49651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Research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feels unheard and can’t see itself — exactly the gap SugApp is built for. Our own conversations confirm the demand.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FOUNDER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twenty years inside the problem.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Suguna Mannepalli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20+ years leading teams in corporate IT, and an accredited leadership coach (Association for Coaching). SugApp comes from both chairs: the operator who watched culture break, and the coach who helps people change.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349240" cy="2286000"/>
          </a:xfrm>
          <a:prstGeom prst="roundRect">
            <a:avLst>
              <a:gd name="adj" fmla="val 4400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1821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kept seeing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loudest voice gets mistaken for the most knowledgeable. Hierarchy quietly overrides better judgment. People in power rarely get to see their own behavior — while the teams beneath them are scrutinized for echoing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2926080"/>
            <a:ext cx="53492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31821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people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37033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to change, people get defensive.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given room to reflect, they improve on their own — and outperform. The lost skill of our moment isn’t communication — it’s listening.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SugApp productizes that coaching truth: a private mirror for self-reflection, never a manager’s verdict.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want from Launch Chapel Hill.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name="adj" fmla="val 5500"/>
            </a:avLst>
          </a:prstGeom>
          <a:solidFill>
            <a:srgbClr val="12312F"/>
          </a:solidFill>
          <a:ln w="12700">
            <a:solidFill>
              <a:srgbClr val="24534C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 to 3–5 teams (10–40 people) going through change, willing to run a consented 6-week pilot and co-develop the Index.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2148840"/>
            <a:ext cx="5349240" cy="1828800"/>
          </a:xfrm>
          <a:prstGeom prst="roundRect">
            <a:avLst>
              <a:gd name="adj" fmla="val 5500"/>
            </a:avLst>
          </a:prstGeom>
          <a:solidFill>
            <a:srgbClr val="12312F"/>
          </a:solidFill>
          <a:ln w="12700">
            <a:solidFill>
              <a:srgbClr val="24534C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&amp; mentorship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9718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to calibrate the model and land the first paying pilots, plus go-to-market and enterprise-privacy guidance.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company is asking their people to change faster than ever.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is the leading indicator of whether they can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no one else is measuring it.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(working name)  ·  © 2026 Suguna Mannepalli. All rights reserved.  ·  Confidential &amp; Proprietary — contains trade-secret methodology.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SugApp — Investor Brief</dc:title>
  <dc:subject>PptxGenJS Presentation</dc:subject>
  <dc:creator>SugApp</dc:creator>
  <cp:lastModifiedBy>SugApp</cp:lastModifiedBy>
  <cp:revision>1</cp:revision>
  <dcterms:created xsi:type="dcterms:W3CDTF">2026-07-30T17:21:11Z</dcterms:created>
  <dcterms:modified xsi:type="dcterms:W3CDTF">2026-07-30T17:21:11Z</dcterms:modified>
</cp:coreProperties>
</file>