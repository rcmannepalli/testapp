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idx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8D69"/>
              </a:solidFill>
              <a:ln w="9525" cap="flat">
                <a:solidFill>
                  <a:srgbClr val="0F2A2E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E4A44"/>
              </a:solidFill>
              <a:ln w="9525" cap="flat">
                <a:solidFill>
                  <a:srgbClr val="0F2A2E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Respect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78</c:v>
                </c:pt>
                <c:pt idx="1">
                  <c:v>22</c:v>
                </c:pt>
              </c:numCache>
            </c:numRef>
          </c:val>
        </c:ser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C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intelligence   ·   Change &amp; AI transformation   ·   B2B SaaS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7040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 no one measures: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people actually heard?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6766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SugApp turns everyday work conversations into a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Index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gives each person private coaching — without surveillance. When everything else is changing, it’s the signal that tells you whether your teams are holding together.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257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Working prototype built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5715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Suguna Mannepalli</a:t>
            </a:r>
            <a:endParaRPr lang="en-US" sz="13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229600" y="1554480"/>
          <a:ext cx="33832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229600" y="27889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8229600" y="35844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C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INDEX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92440" y="50749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D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trending, team-level score — the highest-respect number, not the highest-sentiment one.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0080" y="635508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9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SugApp (working name)  ·  Confidential &amp; Proprietary  ·  Prepared for LaunchUNC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company measures sentiment.</a:t>
            </a:r>
            <a:endParaRPr lang="en-US" sz="33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measure respect.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surveys ask how people feel. They miss what actually drives attrition and silence: whether people are listened to and treated with dignity. “Toxic but polite” sails straight through a sentiment score.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4892040" cy="2743200"/>
          </a:xfrm>
          <a:prstGeom prst="roundRect">
            <a:avLst>
              <a:gd name="adj" fmla="val 3667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32004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sentiment sees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79476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“Thanks for the input! We’ll take it from here.”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480060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as positive</a:t>
            </a:r>
            <a:pPr indent="0" marL="0">
              <a:buNone/>
            </a:pPr>
            <a:r>
              <a:rPr lang="en-US" sz="14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Cheerful words, high score.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32120" y="2926080"/>
            <a:ext cx="112471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71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656832" y="2926080"/>
            <a:ext cx="4892040" cy="2743200"/>
          </a:xfrm>
          <a:prstGeom prst="roundRect">
            <a:avLst>
              <a:gd name="adj" fmla="val 3667"/>
            </a:avLst>
          </a:prstGeom>
          <a:solidFill>
            <a:srgbClr val="FFFFFF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76872" y="32004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76872" y="379476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person was dismissed and stopped contributing.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976872" y="480060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400" b="1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</a:t>
            </a:r>
            <a:pPr indent="0" marL="0">
              <a:buNone/>
            </a:pPr>
            <a:r>
              <a:rPr lang="en-US" sz="14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problem — invisible to the tools companies buy today.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BROKEN INCUMBENT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Companies spend a fortune on surveys</a:t>
            </a:r>
            <a:endParaRPr lang="en-US" sz="33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one answers honestly.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are expensive, annual, and — worst of all — people don’t tell the truth on them for fear of being identified and facing retaliation. Leadership pays a lot to learn very little.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5349240" cy="2926080"/>
          </a:xfrm>
          <a:prstGeom prst="roundRect">
            <a:avLst>
              <a:gd name="adj" fmla="val 3438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309067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5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survey trap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3611880"/>
            <a:ext cx="4709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and annual — stale by the time results land.</a:t>
            </a:r>
            <a:endParaRPr lang="en-US" sz="1400" dirty="0"/>
          </a:p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retaliation kills candor — answers are cover-your-back, not truth.</a:t>
            </a:r>
            <a:endParaRPr lang="en-US" sz="1400" dirty="0"/>
          </a:p>
          <a:p>
            <a:pPr marL="190500" indent="-1905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and gameable — a mirror that shows leaders nothing real.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99632" y="2834640"/>
            <a:ext cx="5349240" cy="2926080"/>
          </a:xfrm>
          <a:prstGeom prst="roundRect">
            <a:avLst>
              <a:gd name="adj" fmla="val 3438"/>
            </a:avLst>
          </a:prstGeom>
          <a:solidFill>
            <a:srgbClr val="FFFFFF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9672" y="309067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SugApp gives leadership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19672" y="3611880"/>
            <a:ext cx="4709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— from real behavior, not a once-a-year form.</a:t>
            </a:r>
            <a:endParaRPr lang="en-US" sz="1400" dirty="0"/>
          </a:p>
          <a:p>
            <a:pPr marL="190500" indent="-1905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and k-anonymized — no one is exposed, so nothing is hidden out of fear.</a:t>
            </a:r>
            <a:endParaRPr lang="en-US" sz="1400" dirty="0"/>
          </a:p>
          <a:p>
            <a:pPr marL="190500" indent="-1905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org- and team-wide picture of how each team is growing through self-reflection.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MOMENT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most uncertain workplace in a generation.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is reorganizing every team at once. How people treat each other decides whether change lands — or your best people quietly leave.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392424" cy="3108960"/>
          </a:xfrm>
          <a:prstGeom prst="roundRect">
            <a:avLst>
              <a:gd name="adj" fmla="val 3235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926080"/>
            <a:ext cx="457200" cy="457200"/>
          </a:xfrm>
          <a:prstGeom prst="ellipse">
            <a:avLst/>
          </a:prstGeom>
          <a:solidFill>
            <a:srgbClr val="1C8D69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566160"/>
            <a:ext cx="2752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breaks trust first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60120" y="4297680"/>
            <a:ext cx="27523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Reorgs and AI rollouts erode psychological safety long before it shows up in output or a quarterly survey.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98264" y="2606040"/>
            <a:ext cx="3392424" cy="3108960"/>
          </a:xfrm>
          <a:prstGeom prst="roundRect">
            <a:avLst>
              <a:gd name="adj" fmla="val 3235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18304" y="2926080"/>
            <a:ext cx="457200" cy="457200"/>
          </a:xfrm>
          <a:prstGeom prst="ellipse">
            <a:avLst/>
          </a:prstGeom>
          <a:solidFill>
            <a:srgbClr val="1C8D69"/>
          </a:solidFill>
          <a:ln/>
        </p:spPr>
      </p:sp>
      <p:sp>
        <p:nvSpPr>
          <p:cNvPr id="12" name="Text 10"/>
          <p:cNvSpPr/>
          <p:nvPr/>
        </p:nvSpPr>
        <p:spPr>
          <a:xfrm>
            <a:off x="4718304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18304" y="3566160"/>
            <a:ext cx="2752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is noise now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718304" y="4297680"/>
            <a:ext cx="27523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upheaval, mood swings with the daily news. Respect &amp; listening is the durable signal that a team is intact.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56448" y="2606040"/>
            <a:ext cx="3392424" cy="3108960"/>
          </a:xfrm>
          <a:prstGeom prst="roundRect">
            <a:avLst>
              <a:gd name="adj" fmla="val 3235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76488" y="2926080"/>
            <a:ext cx="457200" cy="457200"/>
          </a:xfrm>
          <a:prstGeom prst="ellipse">
            <a:avLst/>
          </a:prstGeom>
          <a:solidFill>
            <a:srgbClr val="1C8D69"/>
          </a:solidFill>
          <a:ln/>
        </p:spPr>
      </p:sp>
      <p:sp>
        <p:nvSpPr>
          <p:cNvPr id="17" name="Text 15"/>
          <p:cNvSpPr/>
          <p:nvPr/>
        </p:nvSpPr>
        <p:spPr>
          <a:xfrm>
            <a:off x="8476488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76488" y="3566160"/>
            <a:ext cx="2752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is silent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476488" y="4297680"/>
            <a:ext cx="27523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Disengagement and regretted attrition surface months late. Respect is the early-warning light that comes on first.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WHY NOW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signal was always there. The reader just arrived.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392424" cy="3108960"/>
          </a:xfrm>
          <a:prstGeom prst="roundRect">
            <a:avLst>
              <a:gd name="adj" fmla="val 3235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606040"/>
            <a:ext cx="457200" cy="457200"/>
          </a:xfrm>
          <a:prstGeom prst="ellipse">
            <a:avLst/>
          </a:prstGeom>
          <a:solidFill>
            <a:srgbClr val="1C8D69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3246120"/>
            <a:ext cx="2752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is text now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60120" y="3977640"/>
            <a:ext cx="27523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Slack, Teams, and chat hold the real record of how colleagues treat each other — dense, continuous, and unmined.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98264" y="2286000"/>
            <a:ext cx="3392424" cy="3108960"/>
          </a:xfrm>
          <a:prstGeom prst="roundRect">
            <a:avLst>
              <a:gd name="adj" fmla="val 3235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18304" y="2606040"/>
            <a:ext cx="457200" cy="457200"/>
          </a:xfrm>
          <a:prstGeom prst="ellipse">
            <a:avLst/>
          </a:prstGeom>
          <a:solidFill>
            <a:srgbClr val="1C8D69"/>
          </a:solidFill>
          <a:ln/>
        </p:spPr>
      </p:sp>
      <p:sp>
        <p:nvSpPr>
          <p:cNvPr id="11" name="Text 9"/>
          <p:cNvSpPr/>
          <p:nvPr/>
        </p:nvSpPr>
        <p:spPr>
          <a:xfrm>
            <a:off x="4718304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18304" y="3246120"/>
            <a:ext cx="2752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read nuance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718304" y="3977640"/>
            <a:ext cx="27523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acknowledgement, dismissal, or credit-sharing needs context, not keywords. That capability is new.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56448" y="2286000"/>
            <a:ext cx="3392424" cy="3108960"/>
          </a:xfrm>
          <a:prstGeom prst="roundRect">
            <a:avLst>
              <a:gd name="adj" fmla="val 3235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76488" y="2606040"/>
            <a:ext cx="457200" cy="457200"/>
          </a:xfrm>
          <a:prstGeom prst="ellipse">
            <a:avLst/>
          </a:prstGeom>
          <a:solidFill>
            <a:srgbClr val="1C8D69"/>
          </a:solidFill>
          <a:ln/>
        </p:spPr>
      </p:sp>
      <p:sp>
        <p:nvSpPr>
          <p:cNvPr id="16" name="Text 14"/>
          <p:cNvSpPr/>
          <p:nvPr/>
        </p:nvSpPr>
        <p:spPr>
          <a:xfrm>
            <a:off x="8476488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76488" y="3246120"/>
            <a:ext cx="2752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gate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476488" y="3977640"/>
            <a:ext cx="27523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winner isn’t whoever reads the most — it’s whoever people trust to. That’s a design choice we make on line one.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WHAT IT 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respect &amp; listening layer for the</a:t>
            </a:r>
            <a:endParaRPr lang="en-US" sz="33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workplace.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channel. SugApp reads the conversation with consent, and produces two things: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6035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lnSpc>
                <a:spcPct val="105000"/>
              </a:lnSpc>
              <a:buSzPct val="100000"/>
              <a:buChar char="•"/>
            </a:pPr>
            <a:r>
              <a:rPr lang="en-US" sz="14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mirror for each person</a:t>
            </a:r>
            <a:endParaRPr lang="en-US" sz="1450" dirty="0"/>
          </a:p>
          <a:p>
            <a:pPr lvl="1"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words, what’s landing well, and one concrete thing to try next.</a:t>
            </a:r>
            <a:endParaRPr lang="en-US" sz="1450" dirty="0"/>
          </a:p>
          <a:p>
            <a:pPr marL="190500" indent="-190500">
              <a:lnSpc>
                <a:spcPct val="105000"/>
              </a:lnSpc>
              <a:buSzPct val="100000"/>
              <a:buChar char="•"/>
            </a:pPr>
            <a:r>
              <a:rPr lang="en-US" sz="14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anonymized Respect Index for the org</a:t>
            </a:r>
            <a:endParaRPr lang="en-US" sz="1450" dirty="0"/>
          </a:p>
          <a:p>
            <a:pPr lvl="1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over time, never a name, never a quote.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502920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scoring engine is powered by a proprietary, validated behavioral taxonomy — our core IP, held as a trade secret and not shown here.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040880" y="1874520"/>
            <a:ext cx="4507992" cy="4114800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06640" y="2194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· this quarter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720072" y="20574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C8D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pPr algn="r" indent="0" marL="0">
              <a:buNone/>
            </a:pPr>
            <a:r>
              <a:rPr lang="en-US" sz="1400" dirty="0">
                <a:solidFill>
                  <a:srgbClr val="5A716C"/>
                </a:solidFill>
              </a:rPr>
              <a:t> /100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406640" y="29992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555480" y="3044952"/>
            <a:ext cx="1627632" cy="146304"/>
          </a:xfrm>
          <a:prstGeom prst="roundRect">
            <a:avLst>
              <a:gd name="adj" fmla="val 50000"/>
            </a:avLst>
          </a:prstGeom>
          <a:solidFill>
            <a:srgbClr val="D2DED9"/>
          </a:solidFill>
          <a:ln/>
        </p:spPr>
      </p:sp>
      <p:sp>
        <p:nvSpPr>
          <p:cNvPr id="12" name="Shape 10"/>
          <p:cNvSpPr/>
          <p:nvPr/>
        </p:nvSpPr>
        <p:spPr>
          <a:xfrm>
            <a:off x="9555480" y="3044952"/>
            <a:ext cx="1204448" cy="146304"/>
          </a:xfrm>
          <a:prstGeom prst="roundRect">
            <a:avLst>
              <a:gd name="adj" fmla="val 50000"/>
            </a:avLst>
          </a:prstGeom>
          <a:solidFill>
            <a:srgbClr val="2A9D6C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0" y="34564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 w/ dignity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55480" y="3502152"/>
            <a:ext cx="1627632" cy="146304"/>
          </a:xfrm>
          <a:prstGeom prst="roundRect">
            <a:avLst>
              <a:gd name="adj" fmla="val 50000"/>
            </a:avLst>
          </a:prstGeom>
          <a:solidFill>
            <a:srgbClr val="D2DED9"/>
          </a:solidFill>
          <a:ln/>
        </p:spPr>
      </p:sp>
      <p:sp>
        <p:nvSpPr>
          <p:cNvPr id="15" name="Shape 13"/>
          <p:cNvSpPr/>
          <p:nvPr/>
        </p:nvSpPr>
        <p:spPr>
          <a:xfrm>
            <a:off x="9555480" y="3502152"/>
            <a:ext cx="992856" cy="146304"/>
          </a:xfrm>
          <a:prstGeom prst="roundRect">
            <a:avLst>
              <a:gd name="adj" fmla="val 50000"/>
            </a:avLst>
          </a:prstGeom>
          <a:solidFill>
            <a:srgbClr val="2A9D6C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0" y="39136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Dismissive moments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555480" y="3959352"/>
            <a:ext cx="1627632" cy="146304"/>
          </a:xfrm>
          <a:prstGeom prst="roundRect">
            <a:avLst>
              <a:gd name="adj" fmla="val 50000"/>
            </a:avLst>
          </a:prstGeom>
          <a:solidFill>
            <a:srgbClr val="D2DED9"/>
          </a:solidFill>
          <a:ln/>
        </p:spPr>
      </p:sp>
      <p:sp>
        <p:nvSpPr>
          <p:cNvPr id="18" name="Shape 16"/>
          <p:cNvSpPr/>
          <p:nvPr/>
        </p:nvSpPr>
        <p:spPr>
          <a:xfrm>
            <a:off x="9555480" y="3959352"/>
            <a:ext cx="358079" cy="146304"/>
          </a:xfrm>
          <a:prstGeom prst="roundRect">
            <a:avLst>
              <a:gd name="adj" fmla="val 50000"/>
            </a:avLst>
          </a:prstGeom>
          <a:solidFill>
            <a:srgbClr val="BF842A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0" y="4572000"/>
            <a:ext cx="3776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INDEX · 8 WEEKS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52360" y="5265115"/>
            <a:ext cx="350901" cy="404165"/>
          </a:xfrm>
          <a:prstGeom prst="rect">
            <a:avLst/>
          </a:prstGeom>
          <a:solidFill>
            <a:srgbClr val="1C8D69"/>
          </a:solidFill>
          <a:ln/>
        </p:spPr>
      </p:sp>
      <p:sp>
        <p:nvSpPr>
          <p:cNvPr id="21" name="Shape 19"/>
          <p:cNvSpPr/>
          <p:nvPr/>
        </p:nvSpPr>
        <p:spPr>
          <a:xfrm>
            <a:off x="7912989" y="5218481"/>
            <a:ext cx="350901" cy="450799"/>
          </a:xfrm>
          <a:prstGeom prst="rect">
            <a:avLst/>
          </a:prstGeom>
          <a:solidFill>
            <a:srgbClr val="1C8D69"/>
          </a:solidFill>
          <a:ln/>
        </p:spPr>
      </p:sp>
      <p:sp>
        <p:nvSpPr>
          <p:cNvPr id="22" name="Shape 20"/>
          <p:cNvSpPr/>
          <p:nvPr/>
        </p:nvSpPr>
        <p:spPr>
          <a:xfrm>
            <a:off x="8373618" y="5241798"/>
            <a:ext cx="350901" cy="427482"/>
          </a:xfrm>
          <a:prstGeom prst="rect">
            <a:avLst/>
          </a:prstGeom>
          <a:solidFill>
            <a:srgbClr val="1C8D69"/>
          </a:solidFill>
          <a:ln/>
        </p:spPr>
      </p:sp>
      <p:sp>
        <p:nvSpPr>
          <p:cNvPr id="23" name="Shape 21"/>
          <p:cNvSpPr/>
          <p:nvPr/>
        </p:nvSpPr>
        <p:spPr>
          <a:xfrm>
            <a:off x="8834247" y="5171846"/>
            <a:ext cx="350901" cy="497434"/>
          </a:xfrm>
          <a:prstGeom prst="rect">
            <a:avLst/>
          </a:prstGeom>
          <a:solidFill>
            <a:srgbClr val="1C8D69"/>
          </a:solidFill>
          <a:ln/>
        </p:spPr>
      </p:sp>
      <p:sp>
        <p:nvSpPr>
          <p:cNvPr id="24" name="Shape 22"/>
          <p:cNvSpPr/>
          <p:nvPr/>
        </p:nvSpPr>
        <p:spPr>
          <a:xfrm>
            <a:off x="9294876" y="5132984"/>
            <a:ext cx="350901" cy="536296"/>
          </a:xfrm>
          <a:prstGeom prst="rect">
            <a:avLst/>
          </a:prstGeom>
          <a:solidFill>
            <a:srgbClr val="1C8D69"/>
          </a:solidFill>
          <a:ln/>
        </p:spPr>
      </p:sp>
      <p:sp>
        <p:nvSpPr>
          <p:cNvPr id="25" name="Shape 23"/>
          <p:cNvSpPr/>
          <p:nvPr/>
        </p:nvSpPr>
        <p:spPr>
          <a:xfrm>
            <a:off x="9755505" y="5156302"/>
            <a:ext cx="350901" cy="512978"/>
          </a:xfrm>
          <a:prstGeom prst="rect">
            <a:avLst/>
          </a:prstGeom>
          <a:solidFill>
            <a:srgbClr val="1C8D69"/>
          </a:solidFill>
          <a:ln/>
        </p:spPr>
      </p:sp>
      <p:sp>
        <p:nvSpPr>
          <p:cNvPr id="26" name="Shape 24"/>
          <p:cNvSpPr/>
          <p:nvPr/>
        </p:nvSpPr>
        <p:spPr>
          <a:xfrm>
            <a:off x="10216134" y="5094122"/>
            <a:ext cx="350901" cy="575158"/>
          </a:xfrm>
          <a:prstGeom prst="rect">
            <a:avLst/>
          </a:prstGeom>
          <a:solidFill>
            <a:srgbClr val="1C8D69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76763" y="5063033"/>
            <a:ext cx="350901" cy="606247"/>
          </a:xfrm>
          <a:prstGeom prst="rect">
            <a:avLst/>
          </a:prstGeom>
          <a:solidFill>
            <a:srgbClr val="1C8D69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HOW CULTURE ACTUALLY SHIFTS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Culture changes when people see</a:t>
            </a:r>
            <a:endParaRPr lang="en-US" sz="33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themselves — not when they’re told.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087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doesn’t shift with yearly surveys, performance reviews, or 1:1s — those are watched, rated, and remembered. It shifts with </a:t>
            </a:r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self-reflection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part every program skips. The private mirror creates a quiet feedback loop no policy can: each person sees, in their own words, how they’re landing — and adjusts one small thing.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2331720" cy="1554480"/>
          </a:xfrm>
          <a:prstGeom prst="roundRect">
            <a:avLst>
              <a:gd name="adj" fmla="val 6471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200400"/>
            <a:ext cx="1965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C8D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</a:t>
            </a:r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yourself</a:t>
            </a:r>
            <a:endParaRPr lang="en-US" sz="2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(your own words)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971800" y="3200400"/>
            <a:ext cx="5273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99104" y="3200400"/>
            <a:ext cx="2331720" cy="1554480"/>
          </a:xfrm>
          <a:prstGeom prst="roundRect">
            <a:avLst>
              <a:gd name="adj" fmla="val 6471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81984" y="3200400"/>
            <a:ext cx="1965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C8D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</a:t>
            </a:r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Reflect,</a:t>
            </a:r>
            <a:endParaRPr lang="en-US" sz="2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privately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830824" y="3200400"/>
            <a:ext cx="5273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58128" y="3200400"/>
            <a:ext cx="2331720" cy="1554480"/>
          </a:xfrm>
          <a:prstGeom prst="roundRect">
            <a:avLst>
              <a:gd name="adj" fmla="val 6471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41008" y="3200400"/>
            <a:ext cx="1965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C8D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</a:t>
            </a:r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one</a:t>
            </a:r>
            <a:endParaRPr lang="en-US" sz="2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89848" y="3200400"/>
            <a:ext cx="5273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217152" y="3200400"/>
            <a:ext cx="2331720" cy="1554480"/>
          </a:xfrm>
          <a:prstGeom prst="roundRect">
            <a:avLst>
              <a:gd name="adj" fmla="val 6471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400032" y="3200400"/>
            <a:ext cx="1965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1C8D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</a:t>
            </a:r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room</a:t>
            </a:r>
            <a:endParaRPr lang="en-US" sz="2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</a:t>
            </a:r>
            <a:pPr indent="0" marL="0">
              <a:lnSpc>
                <a:spcPct val="110000"/>
              </a:lnSpc>
              <a:buNone/>
            </a:pPr>
            <a:r>
              <a:rPr lang="en-US" sz="1300" b="1" i="1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is watching but you</a:t>
            </a:r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people actually use it — no fear, no scoring, no manager in the middle. One person changing one behavior, repeated across a team, is what </a:t>
            </a:r>
            <a:pPr indent="0" marL="0">
              <a:lnSpc>
                <a:spcPct val="110000"/>
              </a:lnSpc>
              <a:buNone/>
            </a:pPr>
            <a:r>
              <a:rPr lang="en-US" sz="1300" b="1" i="1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slowly moves the needle</a:t>
            </a:r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the Respect Index turns that invisible shift into a trend leaders can finally see.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SELF-MANAGING TEAMS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Teams that steady themselves through change — no surveillance.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uncertain times, teams need to self-correct fast. SugApp gives a team a shared, private signal of its own health — a mirror for the group, not a report up the chain.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392424" cy="3108960"/>
          </a:xfrm>
          <a:prstGeom prst="roundRect">
            <a:avLst>
              <a:gd name="adj" fmla="val 3235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926080"/>
            <a:ext cx="457200" cy="457200"/>
          </a:xfrm>
          <a:prstGeom prst="ellipse">
            <a:avLst/>
          </a:prstGeom>
          <a:solidFill>
            <a:srgbClr val="1C8D69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566160"/>
            <a:ext cx="2752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mirror, not a manager’s dashboard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60120" y="4297680"/>
            <a:ext cx="27523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sees its own health first and owns the response — support, not scrutiny.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98264" y="2606040"/>
            <a:ext cx="3392424" cy="3108960"/>
          </a:xfrm>
          <a:prstGeom prst="roundRect">
            <a:avLst>
              <a:gd name="adj" fmla="val 3235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18304" y="2926080"/>
            <a:ext cx="457200" cy="457200"/>
          </a:xfrm>
          <a:prstGeom prst="ellipse">
            <a:avLst/>
          </a:prstGeom>
          <a:solidFill>
            <a:srgbClr val="1C8D69"/>
          </a:solidFill>
          <a:ln/>
        </p:spPr>
      </p:sp>
      <p:sp>
        <p:nvSpPr>
          <p:cNvPr id="12" name="Text 10"/>
          <p:cNvSpPr/>
          <p:nvPr/>
        </p:nvSpPr>
        <p:spPr>
          <a:xfrm>
            <a:off x="4718304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18304" y="3566160"/>
            <a:ext cx="2752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during change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718304" y="4297680"/>
            <a:ext cx="27523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dismissiveness and falling acknowledgement show up weeks before resignations do.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56448" y="2606040"/>
            <a:ext cx="3392424" cy="3108960"/>
          </a:xfrm>
          <a:prstGeom prst="roundRect">
            <a:avLst>
              <a:gd name="adj" fmla="val 3235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76488" y="2926080"/>
            <a:ext cx="457200" cy="457200"/>
          </a:xfrm>
          <a:prstGeom prst="ellipse">
            <a:avLst/>
          </a:prstGeom>
          <a:solidFill>
            <a:srgbClr val="1C8D69"/>
          </a:solidFill>
          <a:ln/>
        </p:spPr>
      </p:sp>
      <p:sp>
        <p:nvSpPr>
          <p:cNvPr id="17" name="Text 15"/>
          <p:cNvSpPr/>
          <p:nvPr/>
        </p:nvSpPr>
        <p:spPr>
          <a:xfrm>
            <a:off x="8476488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76488" y="3566160"/>
            <a:ext cx="27523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Self-correction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476488" y="4297680"/>
            <a:ext cx="27523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awareness lets a team reset its own norms mid-reorg — the fastest, cheapest intervention there is.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WHY WE WIN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is the product, not the disclaimer.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score text. The moat is being the tool a workforce will actually allow in — especially when they’re already anxious about AI watching them. We engineered that in from the first commit: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349240" cy="1508760"/>
          </a:xfrm>
          <a:prstGeom prst="roundRect">
            <a:avLst>
              <a:gd name="adj" fmla="val 6667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94436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Opt-in, with a real opt-out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60120" y="336499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is scored without consent. Withdrawing deletes what was collected. Enforced in code, not policy.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9632" y="2743200"/>
            <a:ext cx="5349240" cy="1508760"/>
          </a:xfrm>
          <a:prstGeom prst="roundRect">
            <a:avLst>
              <a:gd name="adj" fmla="val 6667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9672" y="294436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yourself first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519672" y="336499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always sees their own feedback before anyone else — a mirror, not a report to your manager.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526280"/>
            <a:ext cx="5349240" cy="1508760"/>
          </a:xfrm>
          <a:prstGeom prst="roundRect">
            <a:avLst>
              <a:gd name="adj" fmla="val 6667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472744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 sees aggregates only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60120" y="514807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Team-level trends, k-anonymized; small teams suppressed. Never a name, never a quote, up the chain.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9632" y="4526280"/>
            <a:ext cx="5349240" cy="1508760"/>
          </a:xfrm>
          <a:prstGeom prst="roundRect">
            <a:avLst>
              <a:gd name="adj" fmla="val 6667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19672" y="472744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identity (SSO)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519672" y="5148072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Sign-in-with-Slack ties consent to a verified identity — no impersonation, reliable opt-out.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MARKET &amp; BUYER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Sold to the people who now own</a:t>
            </a:r>
            <a:endParaRPr lang="en-US" sz="33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“managing through change.”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6126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is People / HR, People Analytics, and Transformation leaders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already spending on engagement, DEI, and change-management, and now under acute pressure to carry a workforce through AI transformation without losing it.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6126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i="1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We’re not creating a new budget; we’re a sharper instrument for one that already exists — and one regulators and works councils increasingly require to be privacy-first.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98080" y="2011680"/>
            <a:ext cx="4050792" cy="1828800"/>
          </a:xfrm>
          <a:prstGeom prst="roundRect">
            <a:avLst>
              <a:gd name="adj" fmla="val 5500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18120" y="2267712"/>
            <a:ext cx="3410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8D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818120" y="2880360"/>
            <a:ext cx="34107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team that opts in — a fast, low-friction pilot, not a company-wide rollout.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8080" y="4023360"/>
            <a:ext cx="4050792" cy="1828800"/>
          </a:xfrm>
          <a:prstGeom prst="roundRect">
            <a:avLst>
              <a:gd name="adj" fmla="val 5500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18120" y="4279392"/>
            <a:ext cx="3410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8D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818120" y="4892040"/>
            <a:ext cx="34107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wins become org rollout; the Respect Index becomes a tracked people-analytics KPI.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BUSINESS MODEL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Per-seat SaaS — and every employee is a seat.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mirror for </a:t>
            </a:r>
            <a:pPr indent="0" marL="0">
              <a:lnSpc>
                <a:spcPct val="110000"/>
              </a:lnSpc>
              <a:buNone/>
            </a:pPr>
            <a:r>
              <a:rPr lang="en-US" sz="1450" i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a dashboard for a few managers — whole-company adoption, priced per seat. The cost to serve stays tiny because it scales with </a:t>
            </a:r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volume, not headcount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3392424" cy="1371600"/>
          </a:xfrm>
          <a:prstGeom prst="roundRect">
            <a:avLst>
              <a:gd name="adj" fmla="val 7333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26060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31089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Per-active-participant monthly subscription; annual contracts at the org tier.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98264" y="2423160"/>
            <a:ext cx="3392424" cy="1371600"/>
          </a:xfrm>
          <a:prstGeom prst="roundRect">
            <a:avLst>
              <a:gd name="adj" fmla="val 7333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54296" y="26060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seat, margin-accretive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54296" y="31089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adoption, not power-users; each new seat adds far more revenue than cost.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56448" y="2423160"/>
            <a:ext cx="3392424" cy="1371600"/>
          </a:xfrm>
          <a:prstGeom prst="roundRect">
            <a:avLst>
              <a:gd name="adj" fmla="val 7333"/>
            </a:avLst>
          </a:prstGeom>
          <a:solidFill>
            <a:srgbClr val="F4F8F6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0" y="26060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margin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12480" y="31089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scales with scored volume; the taxonomy and trust posture are the durable moat.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3392424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6112" y="42062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8D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$0.30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96112" y="47548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opted-in employee / month to serve on Sonnet (~$0.10 on Haiku).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98264" y="4023360"/>
            <a:ext cx="3392424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54296" y="42062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8D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~90%+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654296" y="47548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gross margin at an illustrative $4 / seat / month.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6448" y="4023360"/>
            <a:ext cx="3392424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D2DED9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12480" y="42062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8D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Volume-based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tracks messages, not seats — so it holds at 50 or 50,000 people.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562356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from LLM token costs at ~75% opt-in (250-person example ≈ $35–70/mo to serve). Message volume is the main driver; $4/seat is illustrative — replace with your numbers before presenting.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STATUS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300" b="1" dirty="0">
                <a:solidFill>
                  <a:srgbClr val="123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slideware idea — a working prototype.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loop runs today, end-to-end and offline-validated: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69464"/>
            <a:ext cx="201168" cy="201168"/>
          </a:xfrm>
          <a:prstGeom prst="ellipse">
            <a:avLst/>
          </a:prstGeom>
          <a:solidFill>
            <a:srgbClr val="2A9D6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532888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5146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Slack connector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token, real channel ingestion.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99632" y="2569464"/>
            <a:ext cx="201168" cy="201168"/>
          </a:xfrm>
          <a:prstGeom prst="ellipse">
            <a:avLst/>
          </a:prstGeom>
          <a:solidFill>
            <a:srgbClr val="2A9D6C"/>
          </a:solidFill>
          <a:ln/>
        </p:spPr>
      </p:sp>
      <p:sp>
        <p:nvSpPr>
          <p:cNvPr id="9" name="Text 7"/>
          <p:cNvSpPr/>
          <p:nvPr/>
        </p:nvSpPr>
        <p:spPr>
          <a:xfrm>
            <a:off x="6199632" y="2532888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19672" y="25146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gate + Sign-in-with-Slack SSO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enforced, tamper-proof.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621024"/>
            <a:ext cx="201168" cy="201168"/>
          </a:xfrm>
          <a:prstGeom prst="ellipse">
            <a:avLst/>
          </a:prstGeom>
          <a:solidFill>
            <a:srgbClr val="2A9D6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84448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35661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+ coaching rewrite per moment.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99632" y="3621024"/>
            <a:ext cx="201168" cy="201168"/>
          </a:xfrm>
          <a:prstGeom prst="ellipse">
            <a:avLst/>
          </a:prstGeom>
          <a:solidFill>
            <a:srgbClr val="2A9D6C"/>
          </a:solidFill>
          <a:ln/>
        </p:spPr>
      </p:sp>
      <p:sp>
        <p:nvSpPr>
          <p:cNvPr id="15" name="Text 13"/>
          <p:cNvSpPr/>
          <p:nvPr/>
        </p:nvSpPr>
        <p:spPr>
          <a:xfrm>
            <a:off x="6199632" y="3584448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19672" y="35661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mirror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private, name-attached view.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672584"/>
            <a:ext cx="201168" cy="201168"/>
          </a:xfrm>
          <a:prstGeom prst="ellipse">
            <a:avLst/>
          </a:prstGeom>
          <a:solidFill>
            <a:srgbClr val="2A9D6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636008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46177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&amp; team dashboards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Index, trends, k-anonymized.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99632" y="4672584"/>
            <a:ext cx="201168" cy="201168"/>
          </a:xfrm>
          <a:prstGeom prst="ellipse">
            <a:avLst/>
          </a:prstGeom>
          <a:solidFill>
            <a:srgbClr val="2A9D6C"/>
          </a:solidFill>
          <a:ln/>
        </p:spPr>
      </p:sp>
      <p:sp>
        <p:nvSpPr>
          <p:cNvPr id="21" name="Text 19"/>
          <p:cNvSpPr/>
          <p:nvPr/>
        </p:nvSpPr>
        <p:spPr>
          <a:xfrm>
            <a:off x="6199632" y="4636008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19672" y="46177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23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 </a:t>
            </a:r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Identity-keyed, penalty-free purge on opt-out.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580644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design partners for a live pilot, and calibration of the Index against real retention / engagement outcomes.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CD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THE ASK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want from LaunchUNC.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349240" cy="1828800"/>
          </a:xfrm>
          <a:prstGeom prst="roundRect">
            <a:avLst>
              <a:gd name="adj" fmla="val 5500"/>
            </a:avLst>
          </a:prstGeom>
          <a:solidFill>
            <a:srgbClr val="12312F"/>
          </a:solidFill>
          <a:ln w="12700">
            <a:solidFill>
              <a:srgbClr val="24534C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42316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97180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intros to 3–5 teams (10–40 people) going through change, willing to run a consented 6-week pilot and co-develop the Index.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99632" y="2148840"/>
            <a:ext cx="5349240" cy="1828800"/>
          </a:xfrm>
          <a:prstGeom prst="roundRect">
            <a:avLst>
              <a:gd name="adj" fmla="val 5500"/>
            </a:avLst>
          </a:prstGeom>
          <a:solidFill>
            <a:srgbClr val="12312F"/>
          </a:solidFill>
          <a:ln w="12700">
            <a:solidFill>
              <a:srgbClr val="24534C"/>
            </a:solidFill>
            <a:prstDash val="solid"/>
          </a:ln>
          <a:effectLst>
            <a:outerShdw sx="100000" sy="100000" kx="0" ky="0" algn="bl" rotWithShape="0" blurRad="114300" dist="38100" dir="5400000">
              <a:srgbClr val="10312B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65392" y="242316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8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&amp; mentorship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65392" y="297180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to calibrate the model and land the first paying pilots, plus go-to-market and enterprise-privacy guidance.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109087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company is asking their people to change faster than ever. </a:t>
            </a:r>
            <a:pPr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1C8D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Respect is the leading indicator of whether they can</a:t>
            </a:r>
            <a:pPr indent="0" marL="0">
              <a:lnSpc>
                <a:spcPct val="110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and no one else is measuring it.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40080" y="630936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SugApp (working name)  ·  © 2026 Suguna Mannepalli. All rights reserved.  ·  Confidential &amp; Proprietary — contains trade-secret methodology.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SugApp — Investor Brief</dc:title>
  <dc:subject>PptxGenJS Presentation</dc:subject>
  <dc:creator>SugApp</dc:creator>
  <cp:lastModifiedBy>SugApp</cp:lastModifiedBy>
  <cp:revision>1</cp:revision>
  <dcterms:created xsi:type="dcterms:W3CDTF">2026-07-30T15:19:04Z</dcterms:created>
  <dcterms:modified xsi:type="dcterms:W3CDTF">2026-07-30T15:19:04Z</dcterms:modified>
</cp:coreProperties>
</file>